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media/image15.jpg" ContentType="image/jpg"/>
  <Override PartName="/ppt/notesSlides/notesSlide17.xml" ContentType="application/vnd.openxmlformats-officedocument.presentationml.notesSlide+xml"/>
  <Override PartName="/ppt/media/image16.jpg" ContentType="image/jpg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72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8522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80902" y="950797"/>
            <a:ext cx="7182197" cy="323096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085851" y="1058711"/>
            <a:ext cx="6972300" cy="3026078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3851910" y="950798"/>
            <a:ext cx="1440180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3937635" y="950798"/>
            <a:ext cx="1268730" cy="483971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1281" y="1568447"/>
            <a:ext cx="6801440" cy="19431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5400" b="0" kern="1200" cap="all" spc="-75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71575" y="3511547"/>
            <a:ext cx="6803136" cy="3429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200" spc="60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200"/>
            </a:lvl2pPr>
            <a:lvl3pPr marL="685800" indent="0" algn="ctr">
              <a:buNone/>
              <a:defRPr sz="120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3989070" y="1005942"/>
            <a:ext cx="1165860" cy="395410"/>
          </a:xfrm>
        </p:spPr>
        <p:txBody>
          <a:bodyPr/>
          <a:lstStyle>
            <a:lvl1pPr algn="ctr">
              <a:defRPr sz="975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090422" y="3908295"/>
            <a:ext cx="4429125" cy="17145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6455190" y="3909060"/>
            <a:ext cx="1583911" cy="17145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22296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587498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980902" y="950797"/>
            <a:ext cx="7182197" cy="323096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085850" y="1058711"/>
            <a:ext cx="6972300" cy="3026078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3851910" y="950798"/>
            <a:ext cx="1440180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3937635" y="950798"/>
            <a:ext cx="1268730" cy="483971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2717" y="1570732"/>
            <a:ext cx="6803136" cy="1940814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5400" kern="1200" cap="all" spc="-75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2718" y="3511547"/>
            <a:ext cx="6803136" cy="342900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>
                <a:solidFill>
                  <a:schemeClr val="tx1"/>
                </a:solidFill>
                <a:effectLst/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991356" y="1008377"/>
            <a:ext cx="1165860" cy="397764"/>
          </a:xfrm>
        </p:spPr>
        <p:txBody>
          <a:bodyPr/>
          <a:lstStyle>
            <a:lvl1pPr algn="ctr">
              <a:defRPr lang="en-US" sz="975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90165" y="3908295"/>
            <a:ext cx="4430268" cy="171450"/>
          </a:xfrm>
        </p:spPr>
        <p:txBody>
          <a:bodyPr/>
          <a:lstStyle>
            <a:lvl1pPr algn="l">
              <a:defRPr/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3378" y="3908295"/>
            <a:ext cx="1584198" cy="171450"/>
          </a:xfrm>
        </p:spPr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97133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577340"/>
            <a:ext cx="3566160" cy="2811780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7740" y="1577340"/>
            <a:ext cx="3566160" cy="2811780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0626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55751"/>
            <a:ext cx="3566160" cy="48006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425" b="0">
                <a:solidFill>
                  <a:schemeClr val="tx2"/>
                </a:solidFill>
                <a:latin typeface="+mn-lt"/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66924"/>
            <a:ext cx="3566160" cy="2400300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80026" y="1555751"/>
            <a:ext cx="3566160" cy="48006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425" b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80026" y="2067436"/>
            <a:ext cx="3566160" cy="2400300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81660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4514137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087472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184147" y="178308"/>
            <a:ext cx="6398514" cy="4786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6765290" y="178308"/>
            <a:ext cx="2194560" cy="4786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2300" y="455544"/>
            <a:ext cx="1823085" cy="1234440"/>
          </a:xfrm>
        </p:spPr>
        <p:txBody>
          <a:bodyPr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1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0" y="457200"/>
            <a:ext cx="5829300" cy="4000500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72300" y="1714500"/>
            <a:ext cx="1823085" cy="26289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600"/>
              </a:spcBef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LID4096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7795258" y="4667252"/>
            <a:ext cx="1097280" cy="20574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  <p:sp>
        <p:nvSpPr>
          <p:cNvPr id="12" name="Rectangle 11"/>
          <p:cNvSpPr/>
          <p:nvPr/>
        </p:nvSpPr>
        <p:spPr>
          <a:xfrm>
            <a:off x="6868160" y="281178"/>
            <a:ext cx="1988820" cy="4581144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8988707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6765290" y="178308"/>
            <a:ext cx="2194560" cy="47868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2300" y="452628"/>
            <a:ext cx="1824228" cy="1234440"/>
          </a:xfrm>
        </p:spPr>
        <p:txBody>
          <a:bodyPr anchor="b">
            <a:noAutofit/>
          </a:bodyPr>
          <a:lstStyle>
            <a:lvl1pPr algn="l">
              <a:defRPr sz="21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1449" y="178308"/>
            <a:ext cx="6398514" cy="4786884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72300" y="1714500"/>
            <a:ext cx="1824228" cy="2626614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600"/>
              </a:spcBef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685800" rtl="0" eaLnBrk="1" latinLnBrk="0" hangingPunct="1">
              <a:defRPr lang="en-US" sz="75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797546" y="4670298"/>
            <a:ext cx="1097280" cy="20574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  <p:sp>
        <p:nvSpPr>
          <p:cNvPr id="10" name="Rectangle 9"/>
          <p:cNvSpPr/>
          <p:nvPr/>
        </p:nvSpPr>
        <p:spPr>
          <a:xfrm>
            <a:off x="6868160" y="281178"/>
            <a:ext cx="1988820" cy="4581144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5433948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52094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571500"/>
            <a:ext cx="1771650" cy="39433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571500"/>
            <a:ext cx="6057900" cy="39433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3594933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0540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6022" y="178308"/>
            <a:ext cx="8791956" cy="4786884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LID4096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0100" y="481946"/>
            <a:ext cx="7543800" cy="1028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77340"/>
            <a:ext cx="7543800" cy="2948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5740" y="4730754"/>
            <a:ext cx="2057400" cy="2057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7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3F374CD-9994-4E0C-956A-007C8D655EE3}" type="datetimeFigureOut">
              <a:rPr lang="LID4096" smtClean="0"/>
              <a:t>04/13/2026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17470" y="4730754"/>
            <a:ext cx="3909060" cy="2057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7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52410" y="4730754"/>
            <a:ext cx="1097280" cy="2057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9724EBF-4893-4A2E-BA5F-86CCA421643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0508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lang="en-US" sz="36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37160" indent="-137160" algn="l" defTabSz="685800" rtl="0" eaLnBrk="1" latinLnBrk="0" hangingPunct="1">
        <a:lnSpc>
          <a:spcPct val="100000"/>
        </a:lnSpc>
        <a:spcBef>
          <a:spcPts val="675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100000"/>
        </a:lnSpc>
        <a:spcBef>
          <a:spcPts val="375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3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0480" y="36576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55448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Model Development</a:t>
            </a:r>
            <a:endParaRPr lang="en-US" sz="3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CERN Dielectron Dataset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Mass Regression using Machine Learning</a:t>
            </a:r>
            <a:endParaRPr lang="en-US" sz="1600" dirty="0">
              <a:solidFill>
                <a:srgbClr val="FF9900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3200400" y="3566160"/>
            <a:ext cx="2743200" cy="13716"/>
          </a:xfrm>
          <a:prstGeom prst="rect">
            <a:avLst/>
          </a:prstGeom>
          <a:solidFill>
            <a:srgbClr val="ED8B00">
              <a:alpha val="50000"/>
            </a:srgbClr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4"/>
          <p:cNvSpPr/>
          <p:nvPr/>
        </p:nvSpPr>
        <p:spPr>
          <a:xfrm>
            <a:off x="9144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EPL448 – Data Mining on the Web  |  Spring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2:   Varnavas Tryfonos  ·  Thrasos Sazeides  ·  Andreas Evagorou</a:t>
            </a:r>
            <a:endParaRPr lang="en-US" sz="1300" dirty="0"/>
          </a:p>
        </p:txBody>
      </p:sp>
      <p:pic>
        <p:nvPicPr>
          <p:cNvPr id="9" name="Image 1" descr="/mnt/user-data/uploads/ucy_c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3200" y="4526280"/>
            <a:ext cx="3657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71016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07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Domain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80160" y="1463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physics &amp; invariant mass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18105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9280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80160" y="20848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 dielectron events from CMS/LHC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4323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5146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450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80160" y="270662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Distributions, correlations, physics structures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0540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13639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0723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80160" y="33284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dataset versions, feature engineering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36758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75818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36941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Techniques &amp; Results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1280160" y="39502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models, screening, tuning, final evaluation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429768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6" name="Text 18"/>
          <p:cNvSpPr/>
          <p:nvPr/>
        </p:nvSpPr>
        <p:spPr>
          <a:xfrm>
            <a:off x="1280160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Comparison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1280160" y="45720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validation, literature, limitations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9" name="Image 6" descr="/home/claude/ucylogo_transparent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  <p:pic>
        <p:nvPicPr>
          <p:cNvPr id="32" name="Graphic 31" descr="Magnifying glass with solid fill">
            <a:extLst>
              <a:ext uri="{FF2B5EF4-FFF2-40B4-BE49-F238E27FC236}">
                <a16:creationId xmlns:a16="http://schemas.microsoft.com/office/drawing/2014/main" id="{654520AB-D56A-2723-C8C9-C3BCB9E3AB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5800" y="4315968"/>
            <a:ext cx="484632" cy="4846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to the Domain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Large Hadron Collider (LHC) at CERN, protons collide at nearly the speed of light, producing showers of subatomic particles.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CMS detector records dielectron events — collisions producing electron–positron pairs (e⁺e⁻).</a:t>
            </a:r>
            <a:endParaRPr lang="en-US" sz="13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 mass M of the pair reveals the parent particle: peaks at ~3.1 GeV (J/ψ meson), ~9.5 GeV (Υ meson), and ~91 GeV (Z boson).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regression models to predict invariant mass M from raw kinematic features — a continuous prediction task across the full mass spectrum.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18872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5760720" y="1188720"/>
            <a:ext cx="73152" cy="868680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6035040" y="1280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J/ψ Meson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7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~3.1 GeV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760720" y="228600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8"/>
          <p:cNvSpPr/>
          <p:nvPr/>
        </p:nvSpPr>
        <p:spPr>
          <a:xfrm>
            <a:off x="5760720" y="2286000"/>
            <a:ext cx="73152" cy="868680"/>
          </a:xfrm>
          <a:prstGeom prst="rect">
            <a:avLst/>
          </a:prstGeom>
          <a:solidFill>
            <a:srgbClr val="FFCD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035040" y="2377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 Meson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2697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CD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~9.5 GeV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760720" y="338328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5760720" y="3383280"/>
            <a:ext cx="73152" cy="868680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6035040" y="3474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Boson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D8B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~91 GeV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8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D8B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10972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2651760" y="1143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65176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754880" y="1143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CD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Target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5488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Mass 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10972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858000" y="1143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4D6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85800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8046720" cy="16916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E1, E2, pt1, pt2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px1, px2, py1, py2, pz1, pz2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Angular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eta1, eta2, phi1, phi2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Q1, Q2  (values: -1, +1)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(invariant mass in GeV)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CERN Open Data Portal — CMS Run 2010B dielectron events (McCauley, 2014)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9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 Data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64008" cy="621792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1795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Distribution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0" y="11795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right-skewed (skewness ~1.4), multimodal — three visible resonance peaks at 3.1, 9.5, and 91 GeV.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56232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64008" cy="621792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822960" y="18928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Features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0" y="18928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E1, E2, pt1, pt2 are right-skewed (skewness 2.3–3.0) with long tails from Z boson events. Log transformation reduces this significantly.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569464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548640" y="2569464"/>
            <a:ext cx="64008" cy="621792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822960" y="26060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Features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2606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eta: symmetric, bounded by detector acceptance. phi: near-uniform over [−π, +π]. No transformation needed.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548640" y="3282696"/>
            <a:ext cx="64008" cy="621792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822960" y="331927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26080" y="33192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E–pt collinearity (r ≈ 0.87). E1, E2 have highest correlation with target M (r ≈ 0.65–0.70). Charge variables near zero.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95928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548640" y="3995928"/>
            <a:ext cx="64008" cy="621792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822960" y="403250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Analysis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926080" y="403250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~97% opposite-sign pairs (e⁺e⁻ signal), ~3% same-sign (background). Motivates binary 'opposite_sign' feature.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5720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6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— Target Variable Distribution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" name="Image 0" descr="/home/claude/del2_images/img_0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51560"/>
            <a:ext cx="85953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069080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548640" y="4069080"/>
            <a:ext cx="64008" cy="594360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4"/>
          <p:cNvSpPr/>
          <p:nvPr/>
        </p:nvSpPr>
        <p:spPr>
          <a:xfrm>
            <a:off x="822960" y="4114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Right-skewed distribution with three resonance peaks visible in log scale: J/ψ (~3.1 GeV), Υ (~9.5 GeV), and Z boson (~91 GeV). This multimodal structure motivates region-level evaluation and log-transformation of M.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1" descr="/home/claude/ucylogo_transparen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— Correlation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" name="Image 0" descr="/home/claude/del2_images/img_08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51560"/>
            <a:ext cx="4023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63440" y="105156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484632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Correlations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846320" y="150876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E1–pt1 collinearity: r = 0.72</a:t>
            </a:r>
            <a:endParaRPr lang="en-US" sz="11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E2–pt2 collinearity: r = 0.76</a:t>
            </a:r>
            <a:endParaRPr lang="en-US" sz="11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correlations with target M:</a:t>
            </a:r>
            <a:endParaRPr lang="en-US" sz="11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pt1 (r = 0.44), pt2 (r = 0.44), E1 (r = 0.29), E2 (r = 0.32)</a:t>
            </a:r>
            <a:endParaRPr lang="en-US" sz="11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Pseudorapidity: eta1–pz1 (r = 0.77), eta2–pz2 (r = 0.76) — strong physics relationship</a:t>
            </a:r>
            <a:endParaRPr lang="en-US" sz="11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Q1, Q2: near-zero correlations with all continuous features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High E–pt collinearity motivates PCA or selective feature removal. Eta–pz relationships suggest physics-informed engineered features.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1" descr="/home/claude/ucylogo_transparen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— Features vs Target 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" name="Image 0" descr="/home/claude/del2_images/img_0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880" y="1005840"/>
            <a:ext cx="877824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548640" y="4206240"/>
            <a:ext cx="64008" cy="502920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4"/>
          <p:cNvSpPr/>
          <p:nvPr/>
        </p:nvSpPr>
        <p:spPr>
          <a:xfrm>
            <a:off x="822960" y="42336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features (E1, E2, pt1, pt2) show clear positive relationship with M. Angular features (eta, phi) show no linear trend — but may carry non-linear predictive value captured by tree-based models.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1" descr="/home/claude/ucylogo_transparen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Preprocessing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457200" cy="457200"/>
          </a:xfrm>
          <a:prstGeom prst="ellipse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1155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3898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ID columns (Run, Event). No missing values. Retain all 'outliers' — physically valid.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83664"/>
            <a:ext cx="457200" cy="457200"/>
          </a:xfrm>
          <a:prstGeom prst="ellipse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54864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physics features: sum_E, sum_pt, delta_R, delta_eta, delta_phi, opposite_sign, log_E1, log_E2.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596896"/>
            <a:ext cx="457200" cy="457200"/>
          </a:xfrm>
          <a:prstGeom prst="ellipse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548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2542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16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Log1p on skewed energy/momentum features (skewness 2.3→~0). Optional log target (V3).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10128"/>
            <a:ext cx="457200" cy="457200"/>
          </a:xfrm>
          <a:prstGeom prst="ellipse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54864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255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35295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for KNN/PCA pipelines. Tree-based models are scale-invariant — no scaling needed.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3968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24281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retaining 95% variance (V5) — 10 components. Domain-driven V4: 8 selected features.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5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Preprocessed Dataset Versions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777240" cy="5943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143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original cleaned features, StandardScaler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804672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B0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548640" y="1810512"/>
            <a:ext cx="777240" cy="594360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548640" y="1810512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185623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Log-transformed energy &amp; momentum features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23744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548640" y="2523744"/>
            <a:ext cx="777240" cy="5943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548640" y="2523744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256946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+ log-transformed target (log M)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36976"/>
            <a:ext cx="804672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B0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548640" y="3236976"/>
            <a:ext cx="777240" cy="594360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548640" y="3236976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54480" y="32826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8-feature domain-driven set (sum_E, sum_pt, delta_R, delta_eta, delta_phi, opposite_sign, log_E1, log_E2)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548640" y="3950208"/>
            <a:ext cx="777240" cy="5943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548640" y="3950208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39959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+ PCA (95% variance retained → 10 components)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5720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stratified train/test split (stratified by binned mass region) — 79,932 train / 19,983 test events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6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Techniques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93192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931920" cy="457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73152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194560" y="1143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Instance-based, distance-weighted. Sensitive to scaling — benefits from PCA.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937760" y="1143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ExtraTrees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143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Extra-Trees Ensemble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16916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tree ensemble (replaced Random Forest for efficiency). Scale-invariant.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393192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3931920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7315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9456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Boosting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520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with ordered boosting &amp; L2 regularization. GPU-accelerated.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93192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4754880" y="2926080"/>
            <a:ext cx="3931920" cy="4572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493776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Gradient Boosting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3520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Regularized boosting with column subsampling. State-of-the-art for tabular data.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5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Initial Model Screening — 5-Fold CV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548640" y="3931920"/>
            <a:ext cx="64008" cy="640080"/>
          </a:xfrm>
          <a:prstGeom prst="rect">
            <a:avLst/>
          </a:prstGeom>
          <a:solidFill>
            <a:srgbClr val="C4D6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and XGBoost consistently outperform KNN and ExtraTrees. V4 (domain-driven) and V2 (log-transformed) are the strongest dataset versions. PCA-based V5 underperforms.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1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9C1C17-8E5E-289F-475E-A2714C306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334" y="1035182"/>
            <a:ext cx="5544515" cy="27373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Screening Results — Top Performers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264261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(CV)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(GeV)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(GeV)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23360"/>
            <a:ext cx="8046720" cy="594360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548640" y="40233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for tuning:  CatBoost × {V4, V2}   +   XGBoost × {V4, V2}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8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Hyperparameter Tuning (GridSearchCV)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= 8, learning_rate = 0.1, estimators = 500, L2 reg =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0" y="1188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&amp; V2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= 6 (V4) / 10 (V2), learning_rate = 0.1, estimators = 500, colsample = 0.8–1.0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&amp; V2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80467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822960" y="3383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improvements (R² gain over defaults):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703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CAT/V4: +0.0007    CAT/V2: +0.0016    XGB/V4: +0.0036    XGB/V2: +0.0123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069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choices (especially V4) had at least as much impact as hyperparameter tuning.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7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Model Evaluation — Test 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18288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(GeV)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(GeV)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200400"/>
            <a:ext cx="3840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B0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731520" y="3246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R²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/ V2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1520" y="3931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0.9937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754880" y="3200400"/>
            <a:ext cx="3840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4937760" y="3246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Error Profile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3776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V4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937760" y="3931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= 1.065 GeV  |  MAPE = 4.76%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4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Predicted vs Actual — Test 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" name="Image 0" descr="/home/claude/hires_pred_vs_actual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880" y="1051560"/>
            <a:ext cx="877824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069080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548640" y="4069080"/>
            <a:ext cx="64008" cy="594360"/>
          </a:xfrm>
          <a:prstGeom prst="rect">
            <a:avLst/>
          </a:prstGeom>
          <a:solidFill>
            <a:srgbClr val="C4D6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4"/>
          <p:cNvSpPr/>
          <p:nvPr/>
        </p:nvSpPr>
        <p:spPr>
          <a:xfrm>
            <a:off x="822960" y="4114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tuned models follow the identity line closely across the full mass spectrum. R² and RMSE annotations per panel confirm strong fit, with CAT/V2 achieving the tightest scatter (R² = 0.9937).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1" descr="/home/claude/ucylogo_transparen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Residual Diagnostics — Tuned Models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548640" y="4297680"/>
            <a:ext cx="804672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548640" y="4297680"/>
            <a:ext cx="64008" cy="411480"/>
          </a:xfrm>
          <a:prstGeom prst="rect">
            <a:avLst/>
          </a:prstGeom>
          <a:solidFill>
            <a:srgbClr val="FFCD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4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centered near zero with no systematic drift. V2-based models show wider spread in the low-mass region — consistent with the region-level analysis.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1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AA39DB9-A522-9434-3477-137C1411BC8A}"/>
              </a:ext>
            </a:extLst>
          </p:cNvPr>
          <p:cNvGrpSpPr/>
          <p:nvPr/>
        </p:nvGrpSpPr>
        <p:grpSpPr>
          <a:xfrm>
            <a:off x="182880" y="1005840"/>
            <a:ext cx="8778240" cy="3200400"/>
            <a:chOff x="182880" y="1005840"/>
            <a:chExt cx="8778240" cy="3200400"/>
          </a:xfrm>
        </p:grpSpPr>
        <p:pic>
          <p:nvPicPr>
            <p:cNvPr id="4" name="Image 0" descr="/home/claude/hires_residuals.jp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82880" y="1005840"/>
              <a:ext cx="8778240" cy="32004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EE9420-316B-9401-DFED-029758085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8361" y="1005841"/>
              <a:ext cx="7543801" cy="180330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by Mass Region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22402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(&lt;10 GeV)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(&lt;10 GeV)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(&lt;10 GeV)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4D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(&lt;10 GeV)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7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(10–50)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(&gt;50)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520440"/>
            <a:ext cx="8046720" cy="10515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C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Insight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39319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(domain-driven features) maintains strong performance across all mass regions, including the difficult low-mass regime. V2 models collapse in the low-mass region (R² near 0 for XGB/V2). </a:t>
            </a:r>
            <a:r>
              <a:rPr lang="en-US" sz="1200" b="1" dirty="0">
                <a:solidFill>
                  <a:srgbClr val="FFC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 engineering &gt; generic transformations.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Importance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5486400" y="1097280"/>
            <a:ext cx="32918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566928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0" y="155448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features: eta2, eta1, pz1, log_E1, log_E2 — all kinematic variables directly connected to invariant mass.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variables Q1, Q2 contribute almost nothing — consistent with physics (charge determines event category, not mass magnitude).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confirms the domain validity of the trained models.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1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B2ACFB-E53B-F677-1717-312E51D35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1097280"/>
            <a:ext cx="4930383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with Literature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20848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Kilic et al.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Study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(Z-boson peak region)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 (full mass range)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Dielectron events near Z peak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invariant-mass spectrum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RF, WRF, BRF, LightGBM, DNN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KNN, ExtraTrees, CatBoost, 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D8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= 0.9937, MAPE = 4.76%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specified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engineering + V4 reduced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548640" y="3337560"/>
            <a:ext cx="64008" cy="640080"/>
          </a:xfrm>
          <a:prstGeom prst="rect">
            <a:avLst/>
          </a:prstGeom>
          <a:solidFill>
            <a:srgbClr val="FFCD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7" name="Text 4"/>
          <p:cNvSpPr/>
          <p:nvPr/>
        </p:nvSpPr>
        <p:spPr>
          <a:xfrm>
            <a:off x="822960" y="33832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Direct metric comparison is not possible (classification vs regression on different subsets). The common conclusion is that ensemble tree-based methods are highly effective for this data family.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9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 &amp; 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4173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tuned models exceed R² = 0.99 on the test set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6596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19202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Domain-driven V4 outperforms PCA-based V5 across all models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0120" y="24231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is especially strong in the low-mass region where V2 collapses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0120" y="2926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matters more than hyperparameter tuning</a:t>
            </a:r>
            <a:endParaRPr lang="en-US" sz="11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74720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60120" y="34290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aligns with physics expectations</a:t>
            </a:r>
            <a:endParaRPr lang="en-US" sz="1100" dirty="0"/>
          </a:p>
        </p:txBody>
      </p:sp>
      <p:sp>
        <p:nvSpPr>
          <p:cNvPr id="15" name="Text 8"/>
          <p:cNvSpPr/>
          <p:nvPr/>
        </p:nvSpPr>
        <p:spPr>
          <a:xfrm>
            <a:off x="484632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C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463040"/>
            <a:ext cx="274320" cy="27432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5257800" y="14173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 remained computationally expensive even with reduced model set</a:t>
            </a:r>
            <a:endParaRPr lang="en-US" sz="11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965960"/>
            <a:ext cx="274320" cy="274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5257800" y="19202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80/20 hold-out split (no repeated resampling)</a:t>
            </a:r>
            <a:endParaRPr lang="en-US" sz="11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468880"/>
            <a:ext cx="274320" cy="27432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5257800" y="24231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comparison is imperfect (classification vs regression)</a:t>
            </a:r>
            <a:endParaRPr lang="en-US" sz="11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971800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5257800" y="2926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underperformance may be pipeline/parameter specific</a:t>
            </a:r>
            <a:endParaRPr lang="en-US" sz="110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474720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5257800" y="34290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gains partly from domain knowledge in features</a:t>
            </a:r>
            <a:endParaRPr lang="en-US" sz="1100" dirty="0"/>
          </a:p>
        </p:txBody>
      </p:sp>
      <p:sp>
        <p:nvSpPr>
          <p:cNvPr id="26" name="Shape 1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27" name="Image 10" descr="/home/claude/ucylogo_transparen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3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23360" y="3200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463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3200400" y="2148840"/>
            <a:ext cx="2743200" cy="13716"/>
          </a:xfrm>
          <a:prstGeom prst="rect">
            <a:avLst/>
          </a:prstGeom>
          <a:solidFill>
            <a:srgbClr val="ED8B00">
              <a:alpha val="50000"/>
            </a:srgbClr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1097280" y="237744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sz="14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boosted tree ensembles achieve R² &gt; 0.99 for invariant mass prediction on the CERN dielectron dataset.</a:t>
            </a:r>
            <a:endParaRPr lang="en-US" sz="1400" dirty="0">
              <a:solidFill>
                <a:srgbClr val="FF9900"/>
              </a:solidFill>
            </a:endParaRP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14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Physics-informed feature engineering consistently outperforms unsupervised dimensionality reduction.</a:t>
            </a:r>
            <a:endParaRPr lang="en-US" sz="1400" dirty="0">
              <a:solidFill>
                <a:srgbClr val="FF9900"/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representation matters at least as much as the model — domain knowledge is the key differentiator.</a:t>
            </a:r>
            <a:endParaRPr lang="en-US" sz="1400" dirty="0">
              <a:solidFill>
                <a:srgbClr val="FF9900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Any Questions?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ED8B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McCauley, T. (2014). Events with two electrons from 2010. CERN Open Data Portal.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Kilic, H., Ozturk, S., &amp; Yildirim, E. (2023). ML model performances for Z boson mass identification. EPJ Plus, 138.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Pedregosa, F. et al. (2011). Scikit-learn: Machine Learning in Python. JMLR, 12.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Chen, T. &amp; Guestrin, C. (2016). XGBoost: A Scalable Tree Boosting System. KDD.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Prokhorenkova, L. et al. (2018). CatBoost: unbiased boosting with categorical features. NeurIPS.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0" name="Image 0" descr="/home/claude/ucylogo_transparen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7160" y="4773168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  ·  CERN Dielectron Dataset  ·  EPL448 Spring 2026</a:t>
            </a:r>
            <a:endParaRPr lang="en-US" sz="9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0</TotalTime>
  <Words>2078</Words>
  <Application>Microsoft Office PowerPoint</Application>
  <PresentationFormat>On-screen Show (16:9)</PresentationFormat>
  <Paragraphs>356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Calibri</vt:lpstr>
      <vt:lpstr>Century Gothic</vt:lpstr>
      <vt:lpstr>Garamond</vt:lpstr>
      <vt:lpstr>Georgia</vt:lpstr>
      <vt:lpstr>Savon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2026-04-13T09:09:25Z</dcterms:created>
  <dcterms:modified xsi:type="dcterms:W3CDTF">2026-04-13T11:40:44Z</dcterms:modified>
</cp:coreProperties>
</file>