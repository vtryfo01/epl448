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14.jpg" ContentType="image/jp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15.jpg" ContentType="image/jpg"/>
  <Override PartName="/ppt/notesSlides/notesSlide17.xml" ContentType="application/vnd.openxmlformats-officedocument.presentationml.notesSlide+xml"/>
  <Override PartName="/ppt/media/image16.jpg" ContentType="image/jp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image17.jpg" ContentType="image/jpg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2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522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2229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8749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7133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062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81660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51413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08747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98870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543394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52094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59493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54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05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0" y="3657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 Development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CERN Dielectron Dataset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Mass Regression using Machine Learning</a:t>
            </a:r>
            <a:endParaRPr lang="en-US" sz="1600" dirty="0">
              <a:solidFill>
                <a:srgbClr val="FF99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0" y="3566160"/>
            <a:ext cx="2743200" cy="13716"/>
          </a:xfrm>
          <a:prstGeom prst="rect">
            <a:avLst/>
          </a:prstGeom>
          <a:solidFill>
            <a:srgbClr val="ED8B00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EPL448 – Data Mining on the Web  |  Spring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2:   Varnavas Tryfonos  ·  Thrasos Sazeides  ·  Andreas Evagorou</a:t>
            </a:r>
            <a:endParaRPr lang="en-US" sz="1300" dirty="0"/>
          </a:p>
        </p:txBody>
      </p:sp>
      <p:pic>
        <p:nvPicPr>
          <p:cNvPr id="9" name="Image 1" descr="/mnt/user-data/uploads/ucy_c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0" y="4526280"/>
            <a:ext cx="3657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7101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Domain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463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physics &amp; invariant mass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810512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92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20848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dielectron events from CMS/LHC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432304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514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2706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physics structures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054096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363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33284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 versions, feature engineering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75888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5818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 &amp; Results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80160" y="39502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models, screening, tuning, final evaluation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429768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Text 18"/>
          <p:cNvSpPr/>
          <p:nvPr/>
        </p:nvSpPr>
        <p:spPr>
          <a:xfrm>
            <a:off x="128016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Comparison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28016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validation, literature, limitations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6" descr="/home/claude/ucylogo_transparent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  <p:pic>
        <p:nvPicPr>
          <p:cNvPr id="32" name="Graphic 31" descr="Magnifying glass with solid fill">
            <a:extLst>
              <a:ext uri="{FF2B5EF4-FFF2-40B4-BE49-F238E27FC236}">
                <a16:creationId xmlns:a16="http://schemas.microsoft.com/office/drawing/2014/main" id="{654520AB-D56A-2723-C8C9-C3BCB9E3A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" y="4315968"/>
            <a:ext cx="484632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the Domain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Large Hadron Collider (LHC) at CERN, protons collide at nearly the speed of light, producing showers of subatomic particles.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CMS detector records dielectron events — collisions producing electron–positron pairs (e⁺e⁻).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mass M of the pair reveals the parent particle: peaks at ~3.1 GeV (J/ψ meson), ~9.5 GeV (Υ meson), and ~91 GeV (Z boson).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models to predict invariant mass M from raw kinematic features — a continuous prediction task across the full mass spectrum.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73152" cy="86868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0350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J/ψ Meson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~3.1 GeV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760720" y="228600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760720" y="2286000"/>
            <a:ext cx="73152" cy="86868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03504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 Meson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~9.5 GeV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760720" y="338328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5760720" y="3383280"/>
            <a:ext cx="73152" cy="86868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03504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Boson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8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~91 GeV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D8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265176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517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Target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Mass 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85800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4D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1691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E1, E2, pt1, pt2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px1, px2, py1, py2, pz1, pz2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eta1, eta2, phi1, phi2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Q1, Q2  (values: -1, +1)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(invariant mass in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CERN Open Data Portal — CMS Run 2010B dielectron events (McCauley, 2014)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1795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1795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right-skewed (skewness ~1.4), multimodal — three visible resonance peaks at 3.1, 9.5, and 91 GeV.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822960" y="1892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892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E1, E2, pt1, pt2 are right-skewed (skewness 2.3–3.0) with long tails from Z boson events. Log transformation reduces this significantly.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548640" y="2569464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822960" y="2606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eta: symmetric, bounded by detector acceptance. phi: near-uniform over [−π, +π]. No transformation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822960" y="3319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3192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E–pt collinearity (r ≈ 0.87). E1, E2 have highest correlation with target M (r ≈ 0.65–0.70). Charge variables near zero.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95928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48640" y="3995928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822960" y="4032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0325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 opposite-sign pairs (e⁺e⁻ signal), ~3% same-sign (background). Motivates binary 'opposite_sign' feature.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Target Variable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del2_images/img_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85953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64008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with three resonance peaks visible in log scale: J/ψ (~3.1 GeV), Υ (~9.5 GeV), and Z boson (~91 GeV). This multimodal structure motivates region-level evaluation and log-transformation of 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Correlation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del2_images/img_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023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E1–pt1 collinearity: r = 0.72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E2–pt2 collinearity: r = 0.76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correlations with target M: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 (r = 0.44), pt2 (r = 0.44), E1 (r = 0.29), E2 (r = 0.32)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Pseudorapidity: eta1–pz1 (r = 0.77), eta2–pz2 (r = 0.76) — strong physics relationship</a:t>
            </a:r>
            <a:endParaRPr lang="en-US" sz="11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Q1, Q2: near-zero correlations with all continuous features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High E–pt collinearity motivates PCA or selective feature removal. Eta–pz relationships suggest physics-informed engineered features.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Features vs Target 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del2_images/img_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87782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64008" cy="50292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2336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features (E1, E2, pt1, pt2) show clear positive relationship with M. Angular features (eta, phi) show no linear trend — but may carry non-linear predictive value captured by tree-based models.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columns (Run, Event). No missing values. Retain all 'outliers' — physically valid.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physics features: sum_E, sum_pt, delta_R, delta_eta, delta_phi, opposite_sign, log_E1, log_E2.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16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on skewed energy/momentum features (skewness 2.3→~0). Optional log target (V3).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529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KNN/PCA pipelines. Tree-based models are scale-invariant — no scaling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428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retaining 95% variance (V5) — 10 components. Domain-driven V4: 8 selected features.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5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Preprocessed Dataset Versions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7724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original cleaned features, StandardScaler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80467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777240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8562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energy &amp; momentum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77724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5694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+ log-transformed target (log 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80467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777240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8640" y="323697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2826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8-feature domain-driven set (sum_E, sum_pt, delta_R, delta_eta, delta_phi, opposite_sign, log_E1, log_E2)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77724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48640" y="39502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9959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+ PCA (95% variance retained → 10 components)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 (stratified by binned mass region) — 79,932 train / 19,983 test events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1143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Instance-based, distance-weighted. Sensitive to scaling — benefits from PCA.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143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Extra-Trees Ensemble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tree ensemble (replaced Random Forest for efficiency). Scale-invariant.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945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Boosting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with ordered boosting &amp; L2 regularization. GPU-accelerated.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boosting with column subsampling. State-of-the-art for tabular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5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Model Screening — 5-Fold CV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screen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85953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64008" cy="6400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and XGBoost consistently outperform KNN and ExtraTrees. V4 (domain-driven) and V2 (log-transformed) are the strongest dataset versions. PCA-based V5 underperforms.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Screening Results — Top Performers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6426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(CV)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tuning:  CatBoost × {V4, V2}   +   XGBoost × {V4, V2}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8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 (GridSearchCV)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8, learning_rate = 0.1, estimators = 500, L2 reg =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&amp; V2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6 (V4) / 10 (V2), learning_rate = 0.1, estimators = 500, colsample = 0.8–1.0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&amp; V2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improvements (R² gain over defaults):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CAT/V4: +0.0007    CAT/V2: +0.0016    XGB/V4: +0.0036    XGB/V2: +0.0123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choices (especially V4) had at least as much impact as hyperparameter tuning.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Evaluation — Test 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/ V2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0.9937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3200400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Error Profile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V4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3776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1.065 GeV  |  MAPE = 4.76%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vs Actual — Test 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pred_vs_actu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51560"/>
            <a:ext cx="87782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64008" cy="59436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tuned models follow the identity line closely across the full mass spectrum. R² and RMSE annotations per panel confirm strong fit, with CAT/V2 achieving the tightest scatter (R² = 0.9937).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Diagnostics — Tuned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residual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87782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64008" cy="41148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centered near zero with no systematic drift. V2-based models show wider spread in the low-mass region — consistent with the region-level analysis.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Mass Region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240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(10–50)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(&gt;50)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(domain-driven features) maintains strong performance across all mass regions, including the difficult low-mass regime. V2 models collapse in the low-mass region (R² near 0 for XGB/V2). </a:t>
            </a:r>
            <a:r>
              <a:rPr lang="en-US" sz="12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feature engineering &gt; generic transformations.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feature_importa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48463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97280"/>
            <a:ext cx="32918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566928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5544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eta2, eta1, pz1, log_E1, log_E2 — all kinematic variables directly connected to invariant mass.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variables Q1, Q2 contribute almost nothing — consistent with physics (charge determines event category, not mass magnitude).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domain validity of the trained models.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Literature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Kilic et al.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(Z-boson peak region)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(full mass range)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Dielectron events near Z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invariant-mass spectrum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WRF, BRF, LightGBM, DNN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KNN, ExtraTrees, CatBoost,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0.9937, MAPE = 4.76%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engineering + V4 reduced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3337560"/>
            <a:ext cx="64008" cy="64008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Direct metric comparison is not possible (classification vs regression on different subsets). The common conclusion is that ensemble tree-based methods are highly effective for this data family.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tuned models exceed R² = 0.99 on the test set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920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V4 outperforms PCA-based V5 across all models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is especially strong in the low-mass region where V2 collapses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matters more than hyperparameter tuning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7472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aligns with physics expectations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6304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5780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remained computationally expensive even with reduced model set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6596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57800" y="1920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80/20 hold-out split (no repeated resampling)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5780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comparison is imperfect (classification vs regression)</a:t>
            </a:r>
            <a:endParaRPr lang="en-US" sz="11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71800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57800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underperformance may be pipeline/parameter specific</a:t>
            </a:r>
            <a:endParaRPr lang="en-US" sz="11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74720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5780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gains partly from domain knowledge in features</a:t>
            </a:r>
            <a:endParaRPr lang="en-US" sz="1100" dirty="0"/>
          </a:p>
        </p:txBody>
      </p:sp>
      <p:sp>
        <p:nvSpPr>
          <p:cNvPr id="2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7" name="Image 10" descr="/home/claude/ucylogo_transparen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320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200400" y="2148840"/>
            <a:ext cx="2743200" cy="13716"/>
          </a:xfrm>
          <a:prstGeom prst="rect">
            <a:avLst/>
          </a:prstGeom>
          <a:solidFill>
            <a:srgbClr val="ED8B00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1097280" y="23774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boosted tree ensembles achieve R² &gt; 0.99 for invariant mass prediction on the CERN dielectron dataset.</a:t>
            </a:r>
            <a:endParaRPr lang="en-US" sz="1400" dirty="0">
              <a:solidFill>
                <a:srgbClr val="FF9900"/>
              </a:solidFill>
            </a:endParaRP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feature engineering consistently outperforms unsupervised dimensionality reduction.</a:t>
            </a:r>
            <a:endParaRPr lang="en-US" sz="1400" dirty="0">
              <a:solidFill>
                <a:srgbClr val="FF9900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representation matters at least as much as the model — domain knowledge is the key differentiator.</a:t>
            </a:r>
            <a:endParaRPr lang="en-US" sz="1400" dirty="0">
              <a:solidFill>
                <a:srgbClr val="FF99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</a:t>
            </a:r>
            <a:r>
              <a:rPr lang="en-US" sz="160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</a:t>
            </a: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McCauley, T. (2014). Events with two electrons from 2010. CERN Open Data Portal.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Kilic, H., Ozturk, S., &amp; Yildirim, E. (2023). ML model performances for Z boson mass identification. EPJ Plus, 138.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Pedregosa, F. et al. (2011). Scikit-learn: Machine Learning in Python. JMLR, 12.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Chen, T. &amp; Guestrin, C. (2016). XGBoost: A Scalable Tree Boosting System. KDD.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Prokhorenkova, L. et al. (2018). CatBoost: unbiased boosting with categorical features. NeurIPS.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0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2078</Words>
  <Application>Microsoft Office PowerPoint</Application>
  <PresentationFormat>On-screen Show (16:9)</PresentationFormat>
  <Paragraphs>356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Century Gothic</vt:lpstr>
      <vt:lpstr>Garamond</vt:lpstr>
      <vt:lpstr>Georgia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2026-04-13T09:09:25Z</dcterms:created>
  <dcterms:modified xsi:type="dcterms:W3CDTF">2026-04-13T09:12:29Z</dcterms:modified>
</cp:coreProperties>
</file>